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700" r:id="rId4"/>
    <p:sldMasterId id="2147483739" r:id="rId5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1" r:id="rId10"/>
    <p:sldId id="266" r:id="rId11"/>
    <p:sldId id="267" r:id="rId12"/>
    <p:sldId id="268" r:id="rId13"/>
    <p:sldId id="269" r:id="rId14"/>
    <p:sldId id="270" r:id="rId15"/>
    <p:sldId id="264" r:id="rId16"/>
  </p:sldIdLst>
  <p:sldSz cx="12192000" cy="6858000"/>
  <p:notesSz cx="7559675" cy="10691813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7DFA58-8555-4813-A1E9-45BA3543C2EC}" type="datetimeFigureOut">
              <a:rPr lang="vi-VN" smtClean="0"/>
              <a:t>22/04/2026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7379C6-D22F-4E56-8979-C164116452C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47242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7379C6-D22F-4E56-8979-C164116452C0}" type="slidenum">
              <a:rPr lang="vi-VN" smtClean="0"/>
              <a:t>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559486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A80C2-EDE5-2BB1-D4EE-D2A490FE6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28D072-0476-9CA6-BB1C-183888A3E8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C98728-1F6B-38A2-62D9-9328FB266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B747B8-5D9F-6DEF-9B52-6FE2A017B4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7379C6-D22F-4E56-8979-C164116452C0}" type="slidenum">
              <a:rPr lang="vi-VN" smtClean="0"/>
              <a:t>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981013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3B6EF-96FF-2A90-98B1-70FE99924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281677-A7FC-CC36-3F57-A0110B94BD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28261E-B729-B895-3341-DBC07243B8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F63158-55C8-1939-8A24-430D713925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7379C6-D22F-4E56-8979-C164116452C0}" type="slidenum">
              <a:rPr lang="vi-VN" smtClean="0"/>
              <a:t>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652453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B14DB-9AE1-3C75-04FA-411EFCC15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B19B4D-8D3E-7EA7-2C8E-E3E05B0A78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0E575B-A0CF-62C4-F5D5-15186CF1BA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98DE6-5B7A-3E91-16A3-82A032079D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7379C6-D22F-4E56-8979-C164116452C0}" type="slidenum">
              <a:rPr lang="vi-VN" smtClean="0"/>
              <a:t>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865376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00B38-F648-0B98-0F3F-EE675A01D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BB8DD9-149F-8E40-4619-27801FC32C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1D9543-E986-DD75-60DF-DE8B760A76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3AAE5-2EAD-335A-34A4-34BE949D5A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7379C6-D22F-4E56-8979-C164116452C0}" type="slidenum">
              <a:rPr lang="vi-VN" smtClean="0"/>
              <a:t>10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61788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3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image" Target="../media/image4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body"/>
          </p:nvPr>
        </p:nvSpPr>
        <p:spPr>
          <a:xfrm>
            <a:off x="338760" y="1058760"/>
            <a:ext cx="11514240" cy="4908600"/>
          </a:xfrm>
          <a:prstGeom prst="rect">
            <a:avLst/>
          </a:prstGeom>
        </p:spPr>
        <p:txBody>
          <a:bodyPr lIns="90000" tIns="45000" rIns="90000" bIns="45000"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Lato"/>
                <a:ea typeface="Lato"/>
              </a:rPr>
              <a:t>Click to edit Master text styles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Lato"/>
                <a:ea typeface="Lato"/>
              </a:rPr>
              <a:t>Second level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Lato"/>
                <a:ea typeface="Lato"/>
              </a:rPr>
              <a:t>Third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Lato"/>
                <a:ea typeface="Lato"/>
              </a:rPr>
              <a:t>Fourth level</a:t>
            </a: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Lato"/>
                <a:ea typeface="Lato"/>
              </a:rPr>
              <a:t>Fifth level</a:t>
            </a: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title"/>
          </p:nvPr>
        </p:nvSpPr>
        <p:spPr>
          <a:xfrm>
            <a:off x="338760" y="112680"/>
            <a:ext cx="11514240" cy="435600"/>
          </a:xfrm>
          <a:prstGeom prst="rect">
            <a:avLst/>
          </a:prstGeom>
        </p:spPr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en-US" sz="2800" b="1" strike="noStrike" spc="-1">
                <a:solidFill>
                  <a:srgbClr val="FFFFFF"/>
                </a:solidFill>
                <a:latin typeface="Lato"/>
                <a:ea typeface="Lato"/>
              </a:rPr>
              <a:t>Title 1:……………………………………..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338760" y="112680"/>
            <a:ext cx="11514240" cy="435600"/>
          </a:xfrm>
          <a:prstGeom prst="rect">
            <a:avLst/>
          </a:prstGeom>
        </p:spPr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en-US" sz="2800" b="1" strike="noStrike" spc="-1">
                <a:solidFill>
                  <a:srgbClr val="FFFFFF"/>
                </a:solidFill>
                <a:latin typeface="Lato"/>
                <a:ea typeface="Lato"/>
              </a:rPr>
              <a:t>Title 3:……………………………………..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337680" y="1032480"/>
            <a:ext cx="11515320" cy="4938480"/>
          </a:xfrm>
          <a:prstGeom prst="rect">
            <a:avLst/>
          </a:prstGeom>
        </p:spPr>
        <p:txBody>
          <a:bodyPr lIns="90000" tIns="45000" rIns="90000" bIns="45000"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Lato"/>
                <a:ea typeface="Lato"/>
              </a:rPr>
              <a:t>Click to edit Master text styles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Lato"/>
                <a:ea typeface="Lato"/>
              </a:rPr>
              <a:t>Second level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Lato"/>
                <a:ea typeface="Lato"/>
              </a:rPr>
              <a:t>Third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Lato"/>
                <a:ea typeface="Lato"/>
              </a:rPr>
              <a:t>Fourth level</a:t>
            </a: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Lato"/>
                <a:ea typeface="Lato"/>
              </a:rPr>
              <a:t>Fifth level</a:t>
            </a: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Picture 3" descr="Text&#10;&#10;Description automatically generated"/>
          <p:cNvPicPr/>
          <p:nvPr/>
        </p:nvPicPr>
        <p:blipFill>
          <a:blip r:embed="rId2"/>
          <a:stretch/>
        </p:blipFill>
        <p:spPr>
          <a:xfrm>
            <a:off x="392040" y="271440"/>
            <a:ext cx="3174120" cy="1153080"/>
          </a:xfrm>
          <a:prstGeom prst="rect">
            <a:avLst/>
          </a:prstGeom>
          <a:ln>
            <a:noFill/>
          </a:ln>
        </p:spPr>
      </p:pic>
      <p:sp>
        <p:nvSpPr>
          <p:cNvPr id="307" name="CustomShape 1"/>
          <p:cNvSpPr/>
          <p:nvPr/>
        </p:nvSpPr>
        <p:spPr>
          <a:xfrm>
            <a:off x="695520" y="1719489"/>
            <a:ext cx="9441538" cy="4091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r>
              <a:rPr lang="vi-VN" sz="4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Web Chẩn đoán Bệnh Dựa trên Luật (Rule-based Expert System) </a:t>
            </a:r>
          </a:p>
          <a:p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Môn: Nhập môn Trí tuệ nhân tạo.</a:t>
            </a:r>
          </a:p>
          <a:p>
            <a:r>
              <a:rPr lang="vi-VN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Giảng viên hướng dẫn: PGS. TS. Lê Thanh Hương</a:t>
            </a:r>
          </a:p>
          <a:p>
            <a:r>
              <a:rPr lang="vi-VN" sz="32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Nhóm 27.</a:t>
            </a:r>
          </a:p>
        </p:txBody>
      </p:sp>
      <p:sp>
        <p:nvSpPr>
          <p:cNvPr id="308" name="CustomShape 2"/>
          <p:cNvSpPr/>
          <p:nvPr/>
        </p:nvSpPr>
        <p:spPr>
          <a:xfrm>
            <a:off x="695520" y="1424520"/>
            <a:ext cx="6095520" cy="420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vi-VN"/>
          </a:p>
        </p:txBody>
      </p:sp>
      <p:sp>
        <p:nvSpPr>
          <p:cNvPr id="309" name="CustomShape 3"/>
          <p:cNvSpPr/>
          <p:nvPr/>
        </p:nvSpPr>
        <p:spPr>
          <a:xfrm>
            <a:off x="6962400" y="3269880"/>
            <a:ext cx="4329000" cy="1369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vi-V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Freeform 1"/>
          <p:cNvSpPr/>
          <p:nvPr/>
        </p:nvSpPr>
        <p:spPr>
          <a:xfrm>
            <a:off x="3209400" y="2164680"/>
            <a:ext cx="360" cy="360"/>
          </a:xfrm>
          <a:custGeom>
            <a:avLst/>
            <a:gdLst/>
            <a:ahLst/>
            <a:cxnLst/>
            <a:rect l="0" t="0" r="r" b="b"/>
            <a:pathLst>
              <a:path w="1" h="1">
                <a:moveTo>
                  <a:pt x="0" y="0"/>
                </a:moveTo>
                <a:lnTo>
                  <a:pt x="0" y="0"/>
                </a:lnTo>
              </a:path>
            </a:pathLst>
          </a:custGeom>
          <a:ln/>
        </p:spPr>
        <p:txBody>
          <a:bodyPr/>
          <a:lstStyle/>
          <a:p>
            <a:endParaRPr lang="vi-VN"/>
          </a:p>
        </p:txBody>
      </p:sp>
      <p:sp>
        <p:nvSpPr>
          <p:cNvPr id="311" name="TextShape 2"/>
          <p:cNvSpPr txBox="1"/>
          <p:nvPr/>
        </p:nvSpPr>
        <p:spPr>
          <a:xfrm>
            <a:off x="338760" y="1058760"/>
            <a:ext cx="11514240" cy="4908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7CCCE9-6AB9-74A9-304D-7E03B795F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780" y="150434"/>
            <a:ext cx="10972440" cy="419837"/>
          </a:xfrm>
        </p:spPr>
        <p:txBody>
          <a:bodyPr/>
          <a:lstStyle/>
          <a:p>
            <a:r>
              <a:rPr lang="vi-V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 viên nhóm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195007-BD2B-B528-6DF0-D06F354A46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968006"/>
              </p:ext>
            </p:extLst>
          </p:nvPr>
        </p:nvGraphicFramePr>
        <p:xfrm>
          <a:off x="2031700" y="2871019"/>
          <a:ext cx="8128000" cy="1199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6450112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99590464"/>
                    </a:ext>
                  </a:extLst>
                </a:gridCol>
              </a:tblGrid>
              <a:tr h="595631"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Phan Phạm Tuấn Anh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202416410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629861"/>
                  </a:ext>
                </a:extLst>
              </a:tr>
              <a:tr h="603904"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Lê Vĩnh Quốc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dirty="0"/>
                        <a:t>202416595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612318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TextShape 1"/>
          <p:cNvSpPr txBox="1"/>
          <p:nvPr/>
        </p:nvSpPr>
        <p:spPr>
          <a:xfrm>
            <a:off x="338760" y="1058760"/>
            <a:ext cx="11514240" cy="4908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571500" indent="-571500">
              <a:buAutoNum type="romanUcPeriod"/>
            </a:pPr>
            <a:r>
              <a:rPr lang="vi-VN" sz="32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Giới thiệu, mô tả bài toán</a:t>
            </a:r>
          </a:p>
          <a:p>
            <a:pPr marL="571500" indent="-571500">
              <a:buAutoNum type="romanUcPeriod"/>
            </a:pPr>
            <a:r>
              <a:rPr lang="vi-VN" sz="32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Phương pháp sử dụng</a:t>
            </a:r>
          </a:p>
          <a:p>
            <a:pPr marL="571500" indent="-571500">
              <a:buAutoNum type="romanUcPeriod"/>
            </a:pPr>
            <a:r>
              <a:rPr lang="vi-VN" sz="32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Chức năng chính của hệ thống</a:t>
            </a:r>
          </a:p>
          <a:p>
            <a:pPr marL="571500" indent="-571500">
              <a:buAutoNum type="romanUcPeriod"/>
            </a:pPr>
            <a:r>
              <a:rPr lang="vi-VN" sz="32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Kết luận và hướng phát triển</a:t>
            </a:r>
            <a:endParaRPr lang="en-US" sz="3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3" name="TextShape 2"/>
          <p:cNvSpPr txBox="1"/>
          <p:nvPr/>
        </p:nvSpPr>
        <p:spPr>
          <a:xfrm>
            <a:off x="338760" y="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vi-VN" sz="3600" b="1" strike="noStrike" spc="-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Nội dung</a:t>
            </a:r>
            <a:endParaRPr lang="en-US" sz="3600" b="1" strike="noStrike" spc="-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TextShape 1"/>
          <p:cNvSpPr txBox="1"/>
          <p:nvPr/>
        </p:nvSpPr>
        <p:spPr>
          <a:xfrm>
            <a:off x="338760" y="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vi-VN" sz="3600" b="1" spc="-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I. Giới thiệu, mô tả bài toán</a:t>
            </a:r>
            <a:endParaRPr lang="en-US" sz="3600" b="1" strike="noStrike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316" name="TextShape 2"/>
          <p:cNvSpPr txBox="1"/>
          <p:nvPr/>
        </p:nvSpPr>
        <p:spPr>
          <a:xfrm>
            <a:off x="337680" y="1032480"/>
            <a:ext cx="11515320" cy="49384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457200" indent="-457200">
              <a:buFontTx/>
              <a:buChar char="-"/>
            </a:pPr>
            <a:r>
              <a:rPr lang="vi-V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Cảm cúm và dị ứng có nhiều triệu chứng trùng nhau.</a:t>
            </a:r>
          </a:p>
          <a:p>
            <a:r>
              <a:rPr lang="vi-V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người dùng thường tự chẩn đoán sai.</a:t>
            </a:r>
          </a:p>
          <a:p>
            <a:pPr marL="457200" indent="-457200">
              <a:buFontTx/>
              <a:buChar char="-"/>
            </a:pPr>
            <a:r>
              <a:rPr lang="vi-V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Bài toán: Phân biệt cảm cúm / dị ứng / cả hai.</a:t>
            </a:r>
          </a:p>
          <a:p>
            <a:r>
              <a:rPr lang="vi-V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(chỉ dựa trên triệu chứng, mức độ và thời gian)</a:t>
            </a:r>
          </a:p>
          <a:p>
            <a:pPr marL="457200" indent="-457200">
              <a:buFontTx/>
              <a:buChar char="-"/>
            </a:pPr>
            <a:r>
              <a:rPr lang="vi-V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Đầu vào: 14 triệu chứng + mức độ (nhẹ/vừa/nặng) + thời gian xuất hiện .</a:t>
            </a:r>
          </a:p>
          <a:p>
            <a:pPr marL="457200" indent="-457200">
              <a:buFontTx/>
              <a:buChar char="-"/>
            </a:pPr>
            <a:r>
              <a:rPr lang="vi-V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Đầu ra: Kết luận chẩn đoán + độ tin cậy + các luật đã kích hoạt + khuyến nghị cụ thể.</a:t>
            </a:r>
          </a:p>
          <a:p>
            <a:pPr marL="457200" indent="-457200">
              <a:buFontTx/>
              <a:buChar char="-"/>
            </a:pPr>
            <a:r>
              <a:rPr lang="vi-V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Đối tượng sử dụng: Người dùng phổ thông, không cần kiến thức y tế.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F92FF-7F7E-DCFE-BBCA-3815A4EF7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TextShape 1">
            <a:extLst>
              <a:ext uri="{FF2B5EF4-FFF2-40B4-BE49-F238E27FC236}">
                <a16:creationId xmlns:a16="http://schemas.microsoft.com/office/drawing/2014/main" id="{08E89021-C51C-B86D-1BE6-2EA81D16AFD0}"/>
              </a:ext>
            </a:extLst>
          </p:cNvPr>
          <p:cNvSpPr txBox="1"/>
          <p:nvPr/>
        </p:nvSpPr>
        <p:spPr>
          <a:xfrm>
            <a:off x="338760" y="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vi-VN" sz="3600" b="1" spc="-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II. Phương pháp sử dụng</a:t>
            </a:r>
          </a:p>
          <a:p>
            <a:endParaRPr lang="en-US" sz="3600" b="1" strike="noStrike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316" name="TextShape 2">
            <a:extLst>
              <a:ext uri="{FF2B5EF4-FFF2-40B4-BE49-F238E27FC236}">
                <a16:creationId xmlns:a16="http://schemas.microsoft.com/office/drawing/2014/main" id="{7158B980-43DC-6ED1-D19E-C9FF983460AD}"/>
              </a:ext>
            </a:extLst>
          </p:cNvPr>
          <p:cNvSpPr txBox="1"/>
          <p:nvPr/>
        </p:nvSpPr>
        <p:spPr>
          <a:xfrm>
            <a:off x="337680" y="1032480"/>
            <a:ext cx="11515320" cy="49384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457200" indent="-457200">
              <a:buFontTx/>
              <a:buChar char="-"/>
            </a:pPr>
            <a:r>
              <a:rPr lang="en-US" sz="32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Luật IF-THEN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C616DA-F736-47E1-C59F-DFE5F562C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81315"/>
            <a:ext cx="12192000" cy="493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3722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68B98-EA79-BEB6-6584-684293B73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TextShape 1">
            <a:extLst>
              <a:ext uri="{FF2B5EF4-FFF2-40B4-BE49-F238E27FC236}">
                <a16:creationId xmlns:a16="http://schemas.microsoft.com/office/drawing/2014/main" id="{E082CF36-A66D-FC9A-8BF7-1671454609C0}"/>
              </a:ext>
            </a:extLst>
          </p:cNvPr>
          <p:cNvSpPr txBox="1"/>
          <p:nvPr/>
        </p:nvSpPr>
        <p:spPr>
          <a:xfrm>
            <a:off x="338760" y="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vi-VN" sz="3600" b="1" spc="-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II. Phương pháp sử dụng</a:t>
            </a:r>
          </a:p>
          <a:p>
            <a:endParaRPr lang="en-US" sz="3600" b="1" strike="noStrike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316" name="TextShape 2">
            <a:extLst>
              <a:ext uri="{FF2B5EF4-FFF2-40B4-BE49-F238E27FC236}">
                <a16:creationId xmlns:a16="http://schemas.microsoft.com/office/drawing/2014/main" id="{18972390-217B-F6E9-5D3D-31BAE7D1E1C5}"/>
              </a:ext>
            </a:extLst>
          </p:cNvPr>
          <p:cNvSpPr txBox="1"/>
          <p:nvPr/>
        </p:nvSpPr>
        <p:spPr>
          <a:xfrm>
            <a:off x="337680" y="1032480"/>
            <a:ext cx="11515320" cy="49384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D3C33F-58C9-63DE-2E10-FD5CCC93C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439" y="1137918"/>
            <a:ext cx="11441122" cy="458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2697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877AC-1165-D848-BD89-046B319C3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TextShape 1">
            <a:extLst>
              <a:ext uri="{FF2B5EF4-FFF2-40B4-BE49-F238E27FC236}">
                <a16:creationId xmlns:a16="http://schemas.microsoft.com/office/drawing/2014/main" id="{ECD85F29-A255-7755-DCC6-EFC2236E155B}"/>
              </a:ext>
            </a:extLst>
          </p:cNvPr>
          <p:cNvSpPr txBox="1"/>
          <p:nvPr/>
        </p:nvSpPr>
        <p:spPr>
          <a:xfrm>
            <a:off x="338760" y="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vi-VN" sz="3600" b="1" spc="-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II. Phương pháp sử dụng</a:t>
            </a:r>
          </a:p>
          <a:p>
            <a:endParaRPr lang="en-US" sz="3600" b="1" strike="noStrike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316" name="TextShape 2">
            <a:extLst>
              <a:ext uri="{FF2B5EF4-FFF2-40B4-BE49-F238E27FC236}">
                <a16:creationId xmlns:a16="http://schemas.microsoft.com/office/drawing/2014/main" id="{2355C02C-BDFE-FDE4-BD0E-976C8448052D}"/>
              </a:ext>
            </a:extLst>
          </p:cNvPr>
          <p:cNvSpPr txBox="1"/>
          <p:nvPr/>
        </p:nvSpPr>
        <p:spPr>
          <a:xfrm>
            <a:off x="337680" y="1032480"/>
            <a:ext cx="11515320" cy="49384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vi-VN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Ví dụ: 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R1: IF sốt + đau cơ + mệt mỏi → Cảm cúm (w=3.0) 		Nặng → w = 3.9 | Trung bình → w = 3.0 | Nhẹ → w = 2.4</a:t>
            </a:r>
          </a:p>
          <a:p>
            <a:endParaRPr lang="vi-VN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 sử mức độ nhẹ:</a:t>
            </a:r>
          </a:p>
          <a:p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scores = {flu: 2.4, allergy: 0, both: 0} </a:t>
            </a:r>
          </a:p>
          <a:p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total = 2.4 </a:t>
            </a:r>
          </a:p>
          <a:p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maxScore = 2.4 </a:t>
            </a:r>
          </a:p>
          <a:p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confidence = min((2.4 / (2.4+2)) × 100 + 30 , 92) </a:t>
            </a:r>
          </a:p>
          <a:p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= min(54.5 + 30 , 92) = min(84.5 , 92) = 85%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77757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9E24F-0F07-99F3-398F-0FDA3D5FF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TextShape 1">
            <a:extLst>
              <a:ext uri="{FF2B5EF4-FFF2-40B4-BE49-F238E27FC236}">
                <a16:creationId xmlns:a16="http://schemas.microsoft.com/office/drawing/2014/main" id="{FC48E549-125B-50E3-ECA8-3C2A8A783A9B}"/>
              </a:ext>
            </a:extLst>
          </p:cNvPr>
          <p:cNvSpPr txBox="1"/>
          <p:nvPr/>
        </p:nvSpPr>
        <p:spPr>
          <a:xfrm>
            <a:off x="338760" y="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vi-VN" sz="3600" b="1" spc="-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III. Chức năng chính của hệ thống</a:t>
            </a:r>
          </a:p>
          <a:p>
            <a:endParaRPr lang="en-US" sz="3600" b="1" strike="noStrike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316" name="TextShape 2">
            <a:extLst>
              <a:ext uri="{FF2B5EF4-FFF2-40B4-BE49-F238E27FC236}">
                <a16:creationId xmlns:a16="http://schemas.microsoft.com/office/drawing/2014/main" id="{C69D78FE-69D4-A0DD-2062-78C7319DEB0F}"/>
              </a:ext>
            </a:extLst>
          </p:cNvPr>
          <p:cNvSpPr txBox="1"/>
          <p:nvPr/>
        </p:nvSpPr>
        <p:spPr>
          <a:xfrm>
            <a:off x="226634" y="1000558"/>
            <a:ext cx="11515320" cy="49384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706DB7E1-BD3A-510F-BE69-0508095A8929}"/>
              </a:ext>
            </a:extLst>
          </p:cNvPr>
          <p:cNvSpPr/>
          <p:nvPr/>
        </p:nvSpPr>
        <p:spPr>
          <a:xfrm>
            <a:off x="516416" y="4891652"/>
            <a:ext cx="176032" cy="743441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349D5E9D-7B6F-EDB6-FB51-7EA32BDA4A6A}"/>
              </a:ext>
            </a:extLst>
          </p:cNvPr>
          <p:cNvSpPr/>
          <p:nvPr/>
        </p:nvSpPr>
        <p:spPr>
          <a:xfrm>
            <a:off x="697218" y="1302745"/>
            <a:ext cx="11277801" cy="746271"/>
          </a:xfrm>
          <a:prstGeom prst="rect">
            <a:avLst/>
          </a:prstGeom>
          <a:solidFill>
            <a:schemeClr val="bg1"/>
          </a:solidFill>
          <a:ln w="12700">
            <a:solidFill>
              <a:srgbClr val="2A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</a:rPr>
              <a:t>🩺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triệu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dirty="0"/>
          </a:p>
        </p:txBody>
      </p:sp>
      <p:sp>
        <p:nvSpPr>
          <p:cNvPr id="5" name="Shape 12">
            <a:extLst>
              <a:ext uri="{FF2B5EF4-FFF2-40B4-BE49-F238E27FC236}">
                <a16:creationId xmlns:a16="http://schemas.microsoft.com/office/drawing/2014/main" id="{21330687-B200-936F-768E-3E9F0E29CEBD}"/>
              </a:ext>
            </a:extLst>
          </p:cNvPr>
          <p:cNvSpPr/>
          <p:nvPr/>
        </p:nvSpPr>
        <p:spPr>
          <a:xfrm>
            <a:off x="516419" y="2200266"/>
            <a:ext cx="168328" cy="746271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81F09E22-0E18-DA07-EA6C-0E5FC674A905}"/>
              </a:ext>
            </a:extLst>
          </p:cNvPr>
          <p:cNvSpPr/>
          <p:nvPr/>
        </p:nvSpPr>
        <p:spPr>
          <a:xfrm>
            <a:off x="691418" y="4894872"/>
            <a:ext cx="11297106" cy="746271"/>
          </a:xfrm>
          <a:prstGeom prst="rect">
            <a:avLst/>
          </a:prstGeom>
          <a:solidFill>
            <a:schemeClr val="bg1"/>
          </a:solidFill>
          <a:ln w="12700">
            <a:solidFill>
              <a:srgbClr val="2A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</a:rPr>
              <a:t>📊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Thanh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86D70775-546A-8C2E-D832-82EF742B7D01}"/>
              </a:ext>
            </a:extLst>
          </p:cNvPr>
          <p:cNvSpPr/>
          <p:nvPr/>
        </p:nvSpPr>
        <p:spPr>
          <a:xfrm>
            <a:off x="539837" y="3098078"/>
            <a:ext cx="167036" cy="743441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FFF5AA54-0DB6-BC40-160A-EEF43FF4B3A3}"/>
              </a:ext>
            </a:extLst>
          </p:cNvPr>
          <p:cNvSpPr/>
          <p:nvPr/>
        </p:nvSpPr>
        <p:spPr>
          <a:xfrm>
            <a:off x="706874" y="3098468"/>
            <a:ext cx="11258492" cy="746271"/>
          </a:xfrm>
          <a:prstGeom prst="rect">
            <a:avLst/>
          </a:prstGeom>
          <a:solidFill>
            <a:schemeClr val="bg1"/>
          </a:solidFill>
          <a:ln w="12700">
            <a:solidFill>
              <a:srgbClr val="2A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</a:rPr>
              <a:t>🔍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Chẩn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đoán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16">
            <a:extLst>
              <a:ext uri="{FF2B5EF4-FFF2-40B4-BE49-F238E27FC236}">
                <a16:creationId xmlns:a16="http://schemas.microsoft.com/office/drawing/2014/main" id="{5250F13F-9594-140F-B2D4-B258C18664EC}"/>
              </a:ext>
            </a:extLst>
          </p:cNvPr>
          <p:cNvSpPr/>
          <p:nvPr/>
        </p:nvSpPr>
        <p:spPr>
          <a:xfrm>
            <a:off x="528020" y="3996670"/>
            <a:ext cx="176032" cy="743441"/>
          </a:xfrm>
          <a:prstGeom prst="rect">
            <a:avLst/>
          </a:prstGeom>
          <a:solidFill>
            <a:srgbClr val="FF7B72"/>
          </a:solidFill>
          <a:ln w="12700">
            <a:solidFill>
              <a:srgbClr val="FF7B72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1" name="Shape 20">
            <a:extLst>
              <a:ext uri="{FF2B5EF4-FFF2-40B4-BE49-F238E27FC236}">
                <a16:creationId xmlns:a16="http://schemas.microsoft.com/office/drawing/2014/main" id="{63F2CCC5-07AA-45E9-E391-975BCB8807BC}"/>
              </a:ext>
            </a:extLst>
          </p:cNvPr>
          <p:cNvSpPr/>
          <p:nvPr/>
        </p:nvSpPr>
        <p:spPr>
          <a:xfrm>
            <a:off x="539836" y="1296761"/>
            <a:ext cx="141511" cy="736693"/>
          </a:xfrm>
          <a:prstGeom prst="rect">
            <a:avLst/>
          </a:prstGeom>
          <a:solidFill>
            <a:srgbClr val="56D364"/>
          </a:solidFill>
          <a:ln w="12700">
            <a:solidFill>
              <a:srgbClr val="56D364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69F9902A-65E0-A6EC-E3C4-B5EF733EE866}"/>
              </a:ext>
            </a:extLst>
          </p:cNvPr>
          <p:cNvSpPr/>
          <p:nvPr/>
        </p:nvSpPr>
        <p:spPr>
          <a:xfrm>
            <a:off x="687566" y="2200266"/>
            <a:ext cx="11277800" cy="746271"/>
          </a:xfrm>
          <a:prstGeom prst="rect">
            <a:avLst/>
          </a:prstGeom>
          <a:solidFill>
            <a:schemeClr val="bg1"/>
          </a:solidFill>
          <a:ln w="12700">
            <a:solidFill>
              <a:srgbClr val="2A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r>
              <a:rPr lang="en-US" b="1">
                <a:solidFill>
                  <a:srgbClr val="FFFFFF"/>
                </a:solidFill>
              </a:rPr>
              <a:t>📐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Hiển thị luật đã kích hoạt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149BE0B9-3354-0ED0-78DA-0851903C8546}"/>
              </a:ext>
            </a:extLst>
          </p:cNvPr>
          <p:cNvSpPr/>
          <p:nvPr/>
        </p:nvSpPr>
        <p:spPr>
          <a:xfrm>
            <a:off x="706873" y="3985009"/>
            <a:ext cx="11277799" cy="746271"/>
          </a:xfrm>
          <a:prstGeom prst="rect">
            <a:avLst/>
          </a:prstGeom>
          <a:solidFill>
            <a:schemeClr val="bg1"/>
          </a:solidFill>
          <a:ln w="12700">
            <a:solidFill>
              <a:srgbClr val="2A3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</a:rPr>
              <a:t>💊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Khuyến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nghị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hoá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19BBA6-D1E8-1444-4105-0F1297A2F26C}"/>
              </a:ext>
            </a:extLst>
          </p:cNvPr>
          <p:cNvSpPr txBox="1"/>
          <p:nvPr/>
        </p:nvSpPr>
        <p:spPr>
          <a:xfrm>
            <a:off x="793860" y="1694900"/>
            <a:ext cx="111715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15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triệu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cúm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nhẹ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vừa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nặng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bệnh</a:t>
            </a:r>
            <a:r>
              <a:rPr lang="en-US" sz="1500" dirty="0">
                <a:solidFill>
                  <a:srgbClr val="8B949E"/>
                </a:solidFill>
              </a:rPr>
              <a:t>.</a:t>
            </a:r>
            <a:endParaRPr lang="en-US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3A0BE64-E685-885E-8CEF-159DF5EA2521}"/>
              </a:ext>
            </a:extLst>
          </p:cNvPr>
          <p:cNvSpPr/>
          <p:nvPr/>
        </p:nvSpPr>
        <p:spPr>
          <a:xfrm>
            <a:off x="793860" y="2588791"/>
            <a:ext cx="110591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Liệt kê rõ từng luật nào đã "bắt" — người dùng hiểu tại sao hệ thống kết luận vậy. Không phải hộp đen</a:t>
            </a:r>
            <a:r>
              <a:rPr lang="en-US" sz="1000" dirty="0">
                <a:solidFill>
                  <a:srgbClr val="8B949E"/>
                </a:solidFill>
              </a:rPr>
              <a:t>.</a:t>
            </a:r>
            <a:endParaRPr lang="en-US" sz="100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46F62106-6FF5-02EC-F602-1A3885054B8C}"/>
              </a:ext>
            </a:extLst>
          </p:cNvPr>
          <p:cNvSpPr/>
          <p:nvPr/>
        </p:nvSpPr>
        <p:spPr>
          <a:xfrm>
            <a:off x="793860" y="3469798"/>
            <a:ext cx="110591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áp dụng 11 luật IF-THEN, tính điểm từng loại bệnh và trả kết quả: Cúm, Dị ứng, Cả hai, hoặc Chưa rõ.</a:t>
            </a:r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E9E94687-2464-0F4E-84F2-A5D90F4FFA26}"/>
              </a:ext>
            </a:extLst>
          </p:cNvPr>
          <p:cNvSpPr/>
          <p:nvPr/>
        </p:nvSpPr>
        <p:spPr>
          <a:xfrm>
            <a:off x="793860" y="4380190"/>
            <a:ext cx="110591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Đề xuất hành động cụ thể: nghỉ ngơi, uống thuốc gì, khi nào cần đến bác sĩ, cảnh báo khẩn nếu nặng.</a:t>
            </a:r>
          </a:p>
        </p:txBody>
      </p:sp>
      <p:sp>
        <p:nvSpPr>
          <p:cNvPr id="19" name="Text 22">
            <a:extLst>
              <a:ext uri="{FF2B5EF4-FFF2-40B4-BE49-F238E27FC236}">
                <a16:creationId xmlns:a16="http://schemas.microsoft.com/office/drawing/2014/main" id="{2EA82056-59DE-EF4D-7F93-EF8BF5F504B9}"/>
              </a:ext>
            </a:extLst>
          </p:cNvPr>
          <p:cNvSpPr/>
          <p:nvPr/>
        </p:nvSpPr>
        <p:spPr>
          <a:xfrm>
            <a:off x="793860" y="5263372"/>
            <a:ext cx="110591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Hiển thị % tin cậy của chẩn đoán — người dùng biết kết quả này chắc chắn đến đâu.</a:t>
            </a:r>
          </a:p>
        </p:txBody>
      </p:sp>
    </p:spTree>
    <p:extLst>
      <p:ext uri="{BB962C8B-B14F-4D97-AF65-F5344CB8AC3E}">
        <p14:creationId xmlns:p14="http://schemas.microsoft.com/office/powerpoint/2010/main" val="16420475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59638-C80D-770F-38DC-B8D753221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TextShape 1">
            <a:extLst>
              <a:ext uri="{FF2B5EF4-FFF2-40B4-BE49-F238E27FC236}">
                <a16:creationId xmlns:a16="http://schemas.microsoft.com/office/drawing/2014/main" id="{ED65B487-3AB8-24DB-E4CF-8D5650F18296}"/>
              </a:ext>
            </a:extLst>
          </p:cNvPr>
          <p:cNvSpPr txBox="1"/>
          <p:nvPr/>
        </p:nvSpPr>
        <p:spPr>
          <a:xfrm>
            <a:off x="338760" y="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vi-VN" sz="3600" b="1" spc="-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IV. Kết luận và hướng phát triển</a:t>
            </a:r>
            <a:endParaRPr lang="en-US" sz="3600" b="1" strike="noStrike" spc="-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316" name="TextShape 2">
            <a:extLst>
              <a:ext uri="{FF2B5EF4-FFF2-40B4-BE49-F238E27FC236}">
                <a16:creationId xmlns:a16="http://schemas.microsoft.com/office/drawing/2014/main" id="{D0411DD3-D966-EF1F-970C-54D977643185}"/>
              </a:ext>
            </a:extLst>
          </p:cNvPr>
          <p:cNvSpPr txBox="1"/>
          <p:nvPr/>
        </p:nvSpPr>
        <p:spPr>
          <a:xfrm>
            <a:off x="338760" y="1163586"/>
            <a:ext cx="11515320" cy="49384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0D8DF7-6C42-D07D-79DE-20760CDD142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887040"/>
            <a:ext cx="5354280" cy="4694760"/>
          </a:xfrm>
        </p:spPr>
        <p:txBody>
          <a:bodyPr/>
          <a:lstStyle/>
          <a:p>
            <a:pPr marL="0" indent="0" algn="ctr">
              <a:buNone/>
            </a:pP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Đã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đạt được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051828-1DC6-B085-BF65-31C4D544371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231960" y="887040"/>
            <a:ext cx="5354280" cy="4694760"/>
          </a:xfrm>
        </p:spPr>
        <p:txBody>
          <a:bodyPr/>
          <a:lstStyle/>
          <a:p>
            <a:pPr marL="0" indent="0" algn="ctr">
              <a:buNone/>
            </a:pP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Hướng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phát triển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3E491CD-5AEF-8E46-EC09-6A3A53754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883" y="1768287"/>
            <a:ext cx="5229955" cy="359142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1479670-99F1-C67B-E388-1D4AF0D6AC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0003" y="1768287"/>
            <a:ext cx="5229955" cy="358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7884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CustomShape 1"/>
          <p:cNvSpPr/>
          <p:nvPr/>
        </p:nvSpPr>
        <p:spPr>
          <a:xfrm>
            <a:off x="5756400" y="2824200"/>
            <a:ext cx="5136480" cy="970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en-US" sz="6000" b="1" strike="noStrike" spc="-1">
                <a:solidFill>
                  <a:srgbClr val="C00000"/>
                </a:solidFill>
                <a:latin typeface="Lato"/>
                <a:ea typeface="Lato"/>
              </a:rPr>
              <a:t>THANK YOU !</a:t>
            </a:r>
            <a:endParaRPr lang="en-US" sz="60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218</TotalTime>
  <Words>529</Words>
  <Application>Microsoft Office PowerPoint</Application>
  <PresentationFormat>Widescreen</PresentationFormat>
  <Paragraphs>59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11</vt:i4>
      </vt:variant>
    </vt:vector>
  </HeadingPairs>
  <TitlesOfParts>
    <vt:vector size="23" baseType="lpstr">
      <vt:lpstr>Aptos</vt:lpstr>
      <vt:lpstr>Arial</vt:lpstr>
      <vt:lpstr>Calibri</vt:lpstr>
      <vt:lpstr>Lato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Thành viên nhóm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Phong TT &amp; QTTH</dc:creator>
  <dc:description/>
  <cp:lastModifiedBy>Tran Tuan</cp:lastModifiedBy>
  <cp:revision>4</cp:revision>
  <dcterms:created xsi:type="dcterms:W3CDTF">2020-12-31T09:57:48Z</dcterms:created>
  <dcterms:modified xsi:type="dcterms:W3CDTF">2026-04-22T14:27:35Z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ntentTypeId">
    <vt:lpwstr>0x0101004F531634775FD1439D5B67291EFE2AD4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9</vt:i4>
  </property>
</Properties>
</file>